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Arial Bold" charset="1" panose="020B07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4" id="14" descr="A person sitting at a desk with a computer  Description automatically generate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791575" y="857250"/>
            <a:ext cx="7048500" cy="1504950"/>
            <a:chOff x="0" y="0"/>
            <a:chExt cx="9398000" cy="2006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9347200" cy="1955800"/>
            </a:xfrm>
            <a:custGeom>
              <a:avLst/>
              <a:gdLst/>
              <a:ahLst/>
              <a:cxnLst/>
              <a:rect r="r" b="b" t="t" l="l"/>
              <a:pathLst>
                <a:path h="1955800" w="9347200">
                  <a:moveTo>
                    <a:pt x="0" y="326009"/>
                  </a:moveTo>
                  <a:cubicBezTo>
                    <a:pt x="0" y="145923"/>
                    <a:pt x="148971" y="0"/>
                    <a:pt x="332613" y="0"/>
                  </a:cubicBezTo>
                  <a:lnTo>
                    <a:pt x="9014587" y="0"/>
                  </a:lnTo>
                  <a:cubicBezTo>
                    <a:pt x="9198229" y="0"/>
                    <a:pt x="9347200" y="145923"/>
                    <a:pt x="9347200" y="326009"/>
                  </a:cubicBezTo>
                  <a:lnTo>
                    <a:pt x="9347200" y="1629791"/>
                  </a:lnTo>
                  <a:cubicBezTo>
                    <a:pt x="9347200" y="1809877"/>
                    <a:pt x="9198229" y="1955800"/>
                    <a:pt x="9014587" y="1955800"/>
                  </a:cubicBezTo>
                  <a:lnTo>
                    <a:pt x="332613" y="1955800"/>
                  </a:lnTo>
                  <a:cubicBezTo>
                    <a:pt x="148971" y="1955800"/>
                    <a:pt x="0" y="1809877"/>
                    <a:pt x="0" y="1629791"/>
                  </a:cubicBezTo>
                  <a:close/>
                </a:path>
              </a:pathLst>
            </a:custGeom>
            <a:solidFill>
              <a:srgbClr val="EBEEF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98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9398000">
                  <a:moveTo>
                    <a:pt x="0" y="351409"/>
                  </a:moveTo>
                  <a:cubicBezTo>
                    <a:pt x="0" y="156845"/>
                    <a:pt x="160782" y="0"/>
                    <a:pt x="358013" y="0"/>
                  </a:cubicBezTo>
                  <a:lnTo>
                    <a:pt x="9039987" y="0"/>
                  </a:lnTo>
                  <a:lnTo>
                    <a:pt x="9039987" y="25400"/>
                  </a:lnTo>
                  <a:lnTo>
                    <a:pt x="9039987" y="0"/>
                  </a:lnTo>
                  <a:cubicBezTo>
                    <a:pt x="9237218" y="0"/>
                    <a:pt x="9398000" y="156845"/>
                    <a:pt x="9398000" y="351409"/>
                  </a:cubicBezTo>
                  <a:lnTo>
                    <a:pt x="9372600" y="351409"/>
                  </a:lnTo>
                  <a:lnTo>
                    <a:pt x="9398000" y="351409"/>
                  </a:lnTo>
                  <a:lnTo>
                    <a:pt x="9398000" y="1655191"/>
                  </a:lnTo>
                  <a:lnTo>
                    <a:pt x="9372600" y="1655191"/>
                  </a:lnTo>
                  <a:lnTo>
                    <a:pt x="9398000" y="1655191"/>
                  </a:lnTo>
                  <a:cubicBezTo>
                    <a:pt x="9398000" y="1849755"/>
                    <a:pt x="9237218" y="2006600"/>
                    <a:pt x="9039987" y="2006600"/>
                  </a:cubicBezTo>
                  <a:lnTo>
                    <a:pt x="9039987" y="1981200"/>
                  </a:lnTo>
                  <a:lnTo>
                    <a:pt x="9039987" y="2006600"/>
                  </a:lnTo>
                  <a:lnTo>
                    <a:pt x="358013" y="2006600"/>
                  </a:lnTo>
                  <a:lnTo>
                    <a:pt x="358013" y="1981200"/>
                  </a:lnTo>
                  <a:lnTo>
                    <a:pt x="358013" y="2006600"/>
                  </a:lnTo>
                  <a:cubicBezTo>
                    <a:pt x="160782" y="2006600"/>
                    <a:pt x="0" y="1849755"/>
                    <a:pt x="0" y="1655191"/>
                  </a:cubicBezTo>
                  <a:lnTo>
                    <a:pt x="0" y="351409"/>
                  </a:lnTo>
                  <a:lnTo>
                    <a:pt x="25400" y="351409"/>
                  </a:lnTo>
                  <a:lnTo>
                    <a:pt x="0" y="351409"/>
                  </a:lnTo>
                  <a:moveTo>
                    <a:pt x="50800" y="351409"/>
                  </a:moveTo>
                  <a:lnTo>
                    <a:pt x="50800" y="1655191"/>
                  </a:lnTo>
                  <a:lnTo>
                    <a:pt x="25400" y="1655191"/>
                  </a:lnTo>
                  <a:lnTo>
                    <a:pt x="50800" y="1655191"/>
                  </a:lnTo>
                  <a:cubicBezTo>
                    <a:pt x="50800" y="1820799"/>
                    <a:pt x="187833" y="1955800"/>
                    <a:pt x="358013" y="1955800"/>
                  </a:cubicBezTo>
                  <a:lnTo>
                    <a:pt x="9039987" y="1955800"/>
                  </a:lnTo>
                  <a:cubicBezTo>
                    <a:pt x="9210167" y="1955800"/>
                    <a:pt x="9347200" y="1820799"/>
                    <a:pt x="9347200" y="1655191"/>
                  </a:cubicBezTo>
                  <a:lnTo>
                    <a:pt x="9347200" y="351409"/>
                  </a:lnTo>
                  <a:cubicBezTo>
                    <a:pt x="9347200" y="185801"/>
                    <a:pt x="9210167" y="50800"/>
                    <a:pt x="9039987" y="50800"/>
                  </a:cubicBezTo>
                  <a:lnTo>
                    <a:pt x="358013" y="50800"/>
                  </a:lnTo>
                  <a:lnTo>
                    <a:pt x="358013" y="25400"/>
                  </a:lnTo>
                  <a:lnTo>
                    <a:pt x="358013" y="50800"/>
                  </a:lnTo>
                  <a:cubicBezTo>
                    <a:pt x="187833" y="50800"/>
                    <a:pt x="50800" y="185801"/>
                    <a:pt x="50800" y="351409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318819" y="5074920"/>
            <a:ext cx="10123412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80"/>
              </a:lnSpc>
            </a:pPr>
            <a:r>
              <a:rPr lang="en-US" sz="5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Solar Energy Prediction Using Weather Data</a:t>
            </a:r>
          </a:p>
          <a:p>
            <a:pPr algn="r">
              <a:lnSpc>
                <a:spcPts val="6480"/>
              </a:lnSpc>
            </a:pP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401129" y="1303294"/>
            <a:ext cx="1894735" cy="616250"/>
            <a:chOff x="0" y="0"/>
            <a:chExt cx="2526314" cy="821667"/>
          </a:xfrm>
        </p:grpSpPr>
        <p:sp>
          <p:nvSpPr>
            <p:cNvPr name="Freeform 20" id="20" descr="A close up of a logo  Description automatically generated"/>
            <p:cNvSpPr/>
            <p:nvPr/>
          </p:nvSpPr>
          <p:spPr>
            <a:xfrm flipH="false" flipV="false" rot="0">
              <a:off x="0" y="0"/>
              <a:ext cx="2526284" cy="821690"/>
            </a:xfrm>
            <a:custGeom>
              <a:avLst/>
              <a:gdLst/>
              <a:ahLst/>
              <a:cxnLst/>
              <a:rect r="r" b="b" t="t" l="l"/>
              <a:pathLst>
                <a:path h="821690" w="2526284">
                  <a:moveTo>
                    <a:pt x="0" y="0"/>
                  </a:moveTo>
                  <a:lnTo>
                    <a:pt x="2526284" y="0"/>
                  </a:lnTo>
                  <a:lnTo>
                    <a:pt x="2526284" y="821690"/>
                  </a:lnTo>
                  <a:lnTo>
                    <a:pt x="0" y="82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6" r="-1" b="-83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0335784" y="1113136"/>
            <a:ext cx="1185239" cy="996567"/>
            <a:chOff x="0" y="0"/>
            <a:chExt cx="1580318" cy="1328756"/>
          </a:xfrm>
        </p:grpSpPr>
        <p:sp>
          <p:nvSpPr>
            <p:cNvPr name="Freeform 22" id="22" descr="A yellow and red shell logo  Description automatically generated"/>
            <p:cNvSpPr/>
            <p:nvPr/>
          </p:nvSpPr>
          <p:spPr>
            <a:xfrm flipH="false" flipV="false" rot="0">
              <a:off x="0" y="0"/>
              <a:ext cx="1580261" cy="1328801"/>
            </a:xfrm>
            <a:custGeom>
              <a:avLst/>
              <a:gdLst/>
              <a:ahLst/>
              <a:cxnLst/>
              <a:rect r="r" b="b" t="t" l="l"/>
              <a:pathLst>
                <a:path h="1328801" w="1580261">
                  <a:moveTo>
                    <a:pt x="0" y="0"/>
                  </a:moveTo>
                  <a:lnTo>
                    <a:pt x="1580261" y="0"/>
                  </a:lnTo>
                  <a:lnTo>
                    <a:pt x="1580261" y="1328801"/>
                  </a:lnTo>
                  <a:lnTo>
                    <a:pt x="0" y="1328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79306" y="1485476"/>
            <a:ext cx="3796454" cy="5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Learning Objectives</a:t>
            </a:r>
          </a:p>
        </p:txBody>
      </p:sp>
      <p:sp>
        <p:nvSpPr>
          <p:cNvPr name="AutoShape 14" id="14"/>
          <p:cNvSpPr/>
          <p:nvPr/>
        </p:nvSpPr>
        <p:spPr>
          <a:xfrm rot="3577">
            <a:off x="-9530" y="9083040"/>
            <a:ext cx="1830706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1018520" y="2164080"/>
            <a:ext cx="6751320" cy="6949440"/>
            <a:chOff x="0" y="0"/>
            <a:chExt cx="9001760" cy="9265920"/>
          </a:xfrm>
        </p:grpSpPr>
        <p:sp>
          <p:nvSpPr>
            <p:cNvPr name="Freeform 16" id="16" descr="A ladder leading to a large yellow circle  Description automatically generated"/>
            <p:cNvSpPr/>
            <p:nvPr/>
          </p:nvSpPr>
          <p:spPr>
            <a:xfrm flipH="false" flipV="false" rot="0">
              <a:off x="0" y="0"/>
              <a:ext cx="9001760" cy="9265920"/>
            </a:xfrm>
            <a:custGeom>
              <a:avLst/>
              <a:gdLst/>
              <a:ahLst/>
              <a:cxnLst/>
              <a:rect r="r" b="b" t="t" l="l"/>
              <a:pathLst>
                <a:path h="9265920" w="9001760">
                  <a:moveTo>
                    <a:pt x="0" y="0"/>
                  </a:moveTo>
                  <a:lnTo>
                    <a:pt x="9001760" y="0"/>
                  </a:lnTo>
                  <a:lnTo>
                    <a:pt x="9001760" y="9265920"/>
                  </a:lnTo>
                  <a:lnTo>
                    <a:pt x="0" y="926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5000"/>
              </a:blip>
              <a:stretch>
                <a:fillRect l="-18960" t="-6535" r="-18805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350240" y="4770059"/>
            <a:ext cx="2072642" cy="88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25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GOAL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9306" y="2950783"/>
            <a:ext cx="12630507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Understand how weather factors influence solar power generation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Learn how to preprocess and clean real-world energy data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Train a machine learning model to predict solar energy output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Apply AI/ML techniques to support green energy management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95191" y="1628166"/>
            <a:ext cx="8971059" cy="5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Tools and Technology used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5191" y="2838450"/>
            <a:ext cx="9858732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Python – core programming language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Pandas, NumPy – data preprocessing and analysis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Scikit-Learn – machine learning model training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Matplotlib – data visualization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Jupyter Notebook  – development environment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93974" y="1548654"/>
            <a:ext cx="8971059" cy="5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Methodology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3974" y="2701083"/>
            <a:ext cx="13796962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Data Collection: Simulated 6-month solar and weather dataset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Data Preprocessing: Cleaned dates, removed noise, standardized values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Feature Engineering: Added Month and DayOfYear features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Model Training: Linear Regression for solar power prediction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Model Evaluation: Checked accuracy using R² score and error metrics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74096" y="1608288"/>
            <a:ext cx="8971059" cy="5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Statement: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4096" y="3136208"/>
            <a:ext cx="1828800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Solar energy generation varies daily due to changing weather conditions.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 Accurate prediction of solar output helps in better planning, energy storage, and efficient grid management.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74096" y="1608288"/>
            <a:ext cx="8971059" cy="5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Solution: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4096" y="2764713"/>
            <a:ext cx="1828800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Developed a machine learning model that predicts daily solar power generation (kWh) using weather parameters like temperature, cloud cover, and wind speed.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 This model can be integrated into smart energy systems or apps for real-time forecasting.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786961" y="3339266"/>
            <a:ext cx="11301259" cy="5919034"/>
          </a:xfrm>
          <a:custGeom>
            <a:avLst/>
            <a:gdLst/>
            <a:ahLst/>
            <a:cxnLst/>
            <a:rect r="r" b="b" t="t" l="l"/>
            <a:pathLst>
              <a:path h="5919034" w="11301259">
                <a:moveTo>
                  <a:pt x="0" y="0"/>
                </a:moveTo>
                <a:lnTo>
                  <a:pt x="11301259" y="0"/>
                </a:lnTo>
                <a:lnTo>
                  <a:pt x="11301259" y="5919034"/>
                </a:lnTo>
                <a:lnTo>
                  <a:pt x="0" y="5919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4096" y="1608288"/>
            <a:ext cx="8971059" cy="5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Screenshot of Output: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4096" y="2401342"/>
            <a:ext cx="1558278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Model Accuracy (R²): 0.93 – The model predicts energy generation with high accuracy.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15070" y="1508897"/>
            <a:ext cx="8971059" cy="5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Conclusion: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0528" y="2427197"/>
            <a:ext cx="14158459" cy="214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6053" indent="-368026" lvl="1">
              <a:lnSpc>
                <a:spcPts val="4091"/>
              </a:lnSpc>
              <a:buFont typeface="Arial"/>
              <a:buChar char="•"/>
            </a:pPr>
            <a:r>
              <a:rPr lang="en-US" b="true" sz="3409">
                <a:solidFill>
                  <a:srgbClr val="2131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Successfully trained a model for solar power prediction using weather data</a:t>
            </a:r>
          </a:p>
          <a:p>
            <a:pPr algn="l" marL="736053" indent="-368026" lvl="1">
              <a:lnSpc>
                <a:spcPts val="4091"/>
              </a:lnSpc>
              <a:buFont typeface="Arial"/>
              <a:buChar char="•"/>
            </a:pPr>
            <a:r>
              <a:rPr lang="en-US" b="true" sz="3409">
                <a:solidFill>
                  <a:srgbClr val="2131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Achieved 93% accuracy with consistent performance</a:t>
            </a:r>
          </a:p>
          <a:p>
            <a:pPr algn="l" marL="736053" indent="-368026" lvl="1">
              <a:lnSpc>
                <a:spcPts val="4091"/>
              </a:lnSpc>
              <a:buFont typeface="Arial"/>
              <a:buChar char="•"/>
            </a:pPr>
            <a:r>
              <a:rPr lang="en-US" b="true" sz="3409">
                <a:solidFill>
                  <a:srgbClr val="2131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Demonstrated how AI/ML supports renewable energy optimization</a:t>
            </a:r>
          </a:p>
          <a:p>
            <a:pPr algn="l" marL="736053" indent="-368026" lvl="1">
              <a:lnSpc>
                <a:spcPts val="4091"/>
              </a:lnSpc>
              <a:buFont typeface="Arial"/>
              <a:buChar char="•"/>
            </a:pPr>
            <a:r>
              <a:rPr lang="en-US" b="true" sz="3409">
                <a:solidFill>
                  <a:srgbClr val="2131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approach is scalable for future real-time solar forecasting apps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DAG4lBjc-W8</dc:identifier>
  <dcterms:modified xsi:type="dcterms:W3CDTF">2011-08-01T06:04:30Z</dcterms:modified>
  <cp:revision>1</cp:revision>
  <dc:title>Week_3_Project_PPT_Template1.pptx</dc:title>
</cp:coreProperties>
</file>